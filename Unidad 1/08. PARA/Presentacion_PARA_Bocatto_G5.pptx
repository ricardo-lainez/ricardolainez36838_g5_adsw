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extLst>
    <p:ext uri="{521415D9-36F7-43E2-AB2F-B90AF26B5E84}">
      <p14:sectionLst xmlns:p14="http://schemas.microsoft.com/office/powerpoint/2010/main">
        <p14:section name="Inicio" id="{35B5022E-C13C-DB8F-A37E-E0EC74F76D85}">
          <p14:sldIdLst>
            <p14:sldId id="256"/>
          </p14:sldIdLst>
        </p14:section>
        <p14:section name="Objetivo" id="{8D5F0BE5-B185-97F7-C56A-0A3741716B74}">
          <p14:sldIdLst>
            <p14:sldId id="257"/>
          </p14:sldIdLst>
        </p14:section>
        <p14:section name="Planificación" id="{A2BFBC28-0C44-2ED6-1596-F2D2981FD9A8}">
          <p14:sldIdLst>
            <p14:sldId id="258"/>
          </p14:sldIdLst>
        </p14:section>
        <p14:section name="Investigación" id="{D90A22B6-C093-4B13-F713-32D62AC0B95F}">
          <p14:sldIdLst>
            <p14:sldId id="259"/>
            <p14:sldId id="260"/>
          </p14:sldIdLst>
        </p14:section>
        <p14:section name="Asistente GEM" id="{C93A9784-2DFE-3E7D-E838-CAE4D7026D6A}">
          <p14:sldIdLst>
            <p14:sldId id="261"/>
            <p14:sldId id="262"/>
          </p14:sldIdLst>
        </p14:section>
        <p14:section name="Prototipo" id="{4335B50F-C7ED-D38A-8C11-A59265AB9ADC}">
          <p14:sldIdLst>
            <p14:sldId id="263"/>
          </p14:sldIdLst>
        </p14:section>
        <p14:section name="Piezas visuales" id="{52666F56-C804-3690-695D-9FC9248DF786}">
          <p14:sldIdLst>
            <p14:sldId id="264"/>
          </p14:sldIdLst>
        </p14:section>
        <p14:section name="Notion" id="{7E43FC7E-FA00-F677-E83C-B364685EE0BF}">
          <p14:sldIdLst>
            <p14:sldId id="265"/>
          </p14:sldIdLst>
        </p14:section>
        <p14:section name="Cierre" id="{0B00B082-210B-B71A-9460-64D0FA3503C9}">
          <p14:sldIdLst>
            <p14:sldId id="266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2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3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4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42652E8-2591-44A2-85D4-1D99EC46341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8E6A5BEA-C68F-44BD-94F9-1E7C5C14E4E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92E90434-B661-47D4-A3AA-D950BB8732E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649A049C-4E82-456C-8819-FE0963A9D88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4B71D446-0AD6-47EE-9330-C856F5749D8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FC2C6738-01B6-4561-B7A5-56F17307F98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AB8E6B48-0285-4932-A753-C1890F55210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FCAD9303-C29B-4B85-9E94-1D555EE68AC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B9648BAD-A376-4AE9-8A74-5DF047E64DD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42E6777A-24EE-4659-B052-033BB68B552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776ECA51-6A70-49FE-85AC-D536A622C59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5F417E93-AF1E-4CB0-A9B4-2BB4C45965F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70B04F1D-26C1-4257-8AF4-BA2D40C0C78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ULO_OSCURO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tmp/claude-0/logo/logo_bocatto.png"/>
          <p:cNvPicPr/>
          <p:nvPr/>
        </p:nvPicPr>
        <p:blipFill>
          <a:blip r:embed="rId2"/>
          <a:stretch/>
        </p:blipFill>
        <p:spPr>
          <a:xfrm>
            <a:off x="11292840" y="6053400"/>
            <a:ext cx="639720" cy="6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423800" cy="82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en-US" sz="3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1"/>
          </p:nvPr>
        </p:nvSpPr>
        <p:spPr>
          <a:xfrm>
            <a:off x="54864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97404420-A24B-4E62-9419-2F17E9BEE205}" type="slidenum">
              <a: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hyperlink" Target="https://app.notion.com/p/P-A-R-A-Sistema-de-pedidos-bocatto-valley-NRC-36838-G-5-3f3cd8194c458048b3adf5c09e2195b6" TargetMode="External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notebook.google.com/notebook/8495017c-a899-47a6-a025-e4d9559aa3e9?authuser=1" TargetMode="External"/><Relationship Id="rId2" Type="http://schemas.openxmlformats.org/officeDocument/2006/relationships/image" Target="../media/image5.jpeg"/><Relationship Id="rId3" Type="http://schemas.openxmlformats.org/officeDocument/2006/relationships/hyperlink" Target="https://notebook.google.com/notebook/db3d5360-1345-489b-bc02-875a57728371?authuser=1" TargetMode="External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hyperlink" Target="https://notebook.google.com/notebook/8495017c-a899-47a6-a025-e4d9559aa3e9?authuser=1" TargetMode="External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gemini.google.com/gem/d9eeb390f7c5?usp=sharing" TargetMode="Externa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share.gemini.google/1QgHBaGEupL0" TargetMode="Externa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github.com/Ricardo-lainez/RicardoLainez36838_G5_ADSW/tree/main/PARA/Piezas_visuales" TargetMode="Externa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https://app.notion.com/p/P-A-R-A-Sistema-de-pedidos-bocatto-valley-NRC-36838-G-5-3f3cd8194c458048b3adf5c09e2195b6" TargetMode="External"/><Relationship Id="rId2" Type="http://schemas.openxmlformats.org/officeDocument/2006/relationships/image" Target="../media/image13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/tmp/claude-0/logo/logo_bocatto.png"/>
          <p:cNvPicPr/>
          <p:nvPr/>
        </p:nvPicPr>
        <p:blipFill>
          <a:blip r:embed="rId1"/>
          <a:stretch/>
        </p:blipFill>
        <p:spPr>
          <a:xfrm>
            <a:off x="914400" y="1600200"/>
            <a:ext cx="3657240" cy="365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Text 0"/>
          <p:cNvSpPr/>
          <p:nvPr/>
        </p:nvSpPr>
        <p:spPr>
          <a:xfrm>
            <a:off x="5212080" y="1554480"/>
            <a:ext cx="64004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Espacio de trabajo P.A.R.A. con IA generativa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5212080" y="3291840"/>
            <a:ext cx="6400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Sistema de Gestión de Pedidos Bocatto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5212080" y="4023360"/>
            <a:ext cx="6400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Análisis y Diseño de Software  ·  NRC 36838  ·  Grupo 5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Ing. Jenny Ruiz  ·  22 de octubre de 2026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0423800" cy="82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Objetivo SMART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card_S"/>
          <p:cNvSpPr/>
          <p:nvPr/>
        </p:nvSpPr>
        <p:spPr>
          <a:xfrm>
            <a:off x="548640" y="1463040"/>
            <a:ext cx="2057040" cy="320004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rgbClr val="FBF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2"/>
          <p:cNvSpPr/>
          <p:nvPr/>
        </p:nvSpPr>
        <p:spPr>
          <a:xfrm>
            <a:off x="1115640" y="1691640"/>
            <a:ext cx="914040" cy="9140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E864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3"/>
          <p:cNvSpPr/>
          <p:nvPr/>
        </p:nvSpPr>
        <p:spPr>
          <a:xfrm>
            <a:off x="1115640" y="1691640"/>
            <a:ext cx="914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4"/>
          <p:cNvSpPr/>
          <p:nvPr/>
        </p:nvSpPr>
        <p:spPr>
          <a:xfrm>
            <a:off x="685800" y="2743200"/>
            <a:ext cx="1782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Específico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5"/>
          <p:cNvSpPr/>
          <p:nvPr/>
        </p:nvSpPr>
        <p:spPr>
          <a:xfrm>
            <a:off x="731520" y="3246120"/>
            <a:ext cx="169128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Analizar y diseñar el sistema web de gestión de pedidos de Bocatto Valley.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card_M"/>
          <p:cNvSpPr/>
          <p:nvPr/>
        </p:nvSpPr>
        <p:spPr>
          <a:xfrm>
            <a:off x="2788920" y="1463040"/>
            <a:ext cx="2057040" cy="320004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rgbClr val="FBF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7"/>
          <p:cNvSpPr/>
          <p:nvPr/>
        </p:nvSpPr>
        <p:spPr>
          <a:xfrm>
            <a:off x="3355920" y="1691640"/>
            <a:ext cx="914040" cy="9140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E864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8"/>
          <p:cNvSpPr/>
          <p:nvPr/>
        </p:nvSpPr>
        <p:spPr>
          <a:xfrm>
            <a:off x="3355920" y="1691640"/>
            <a:ext cx="914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9"/>
          <p:cNvSpPr/>
          <p:nvPr/>
        </p:nvSpPr>
        <p:spPr>
          <a:xfrm>
            <a:off x="2926080" y="2743200"/>
            <a:ext cx="1782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Medible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0"/>
          <p:cNvSpPr/>
          <p:nvPr/>
        </p:nvSpPr>
        <p:spPr>
          <a:xfrm>
            <a:off x="2971800" y="3246120"/>
            <a:ext cx="169128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Documentar y modelar los 8 requisitos funcionales con sus diagramas.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card_A"/>
          <p:cNvSpPr/>
          <p:nvPr/>
        </p:nvSpPr>
        <p:spPr>
          <a:xfrm>
            <a:off x="5029200" y="1463040"/>
            <a:ext cx="2057040" cy="320004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rgbClr val="FBF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2"/>
          <p:cNvSpPr/>
          <p:nvPr/>
        </p:nvSpPr>
        <p:spPr>
          <a:xfrm>
            <a:off x="5596200" y="1691640"/>
            <a:ext cx="914040" cy="9140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E864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3"/>
          <p:cNvSpPr/>
          <p:nvPr/>
        </p:nvSpPr>
        <p:spPr>
          <a:xfrm>
            <a:off x="5596200" y="1691640"/>
            <a:ext cx="914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4"/>
          <p:cNvSpPr/>
          <p:nvPr/>
        </p:nvSpPr>
        <p:spPr>
          <a:xfrm>
            <a:off x="5166360" y="2743200"/>
            <a:ext cx="1782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Alcanzable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5"/>
          <p:cNvSpPr/>
          <p:nvPr/>
        </p:nvSpPr>
        <p:spPr>
          <a:xfrm>
            <a:off x="5212080" y="3246120"/>
            <a:ext cx="169128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Usar la ERS, los casos de uso, PlantUML y lo visto en la materia.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card_R"/>
          <p:cNvSpPr/>
          <p:nvPr/>
        </p:nvSpPr>
        <p:spPr>
          <a:xfrm>
            <a:off x="7269480" y="1463040"/>
            <a:ext cx="2057040" cy="320004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rgbClr val="FBF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7"/>
          <p:cNvSpPr/>
          <p:nvPr/>
        </p:nvSpPr>
        <p:spPr>
          <a:xfrm>
            <a:off x="7836480" y="1691640"/>
            <a:ext cx="914040" cy="9140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E864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8"/>
          <p:cNvSpPr/>
          <p:nvPr/>
        </p:nvSpPr>
        <p:spPr>
          <a:xfrm>
            <a:off x="7836480" y="1691640"/>
            <a:ext cx="914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9"/>
          <p:cNvSpPr/>
          <p:nvPr/>
        </p:nvSpPr>
        <p:spPr>
          <a:xfrm>
            <a:off x="7406640" y="2743200"/>
            <a:ext cx="1782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Relevante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0"/>
          <p:cNvSpPr/>
          <p:nvPr/>
        </p:nvSpPr>
        <p:spPr>
          <a:xfrm>
            <a:off x="7452360" y="3246120"/>
            <a:ext cx="169128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Menos errores al registrar y mejor coordinación entre cocina, caja y atención.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card_T"/>
          <p:cNvSpPr/>
          <p:nvPr/>
        </p:nvSpPr>
        <p:spPr>
          <a:xfrm>
            <a:off x="9509760" y="1463040"/>
            <a:ext cx="2057040" cy="320004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rgbClr val="FBF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2"/>
          <p:cNvSpPr/>
          <p:nvPr/>
        </p:nvSpPr>
        <p:spPr>
          <a:xfrm>
            <a:off x="10076760" y="1691640"/>
            <a:ext cx="914040" cy="9140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E864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3"/>
          <p:cNvSpPr/>
          <p:nvPr/>
        </p:nvSpPr>
        <p:spPr>
          <a:xfrm>
            <a:off x="10076760" y="1691640"/>
            <a:ext cx="914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4"/>
          <p:cNvSpPr/>
          <p:nvPr/>
        </p:nvSpPr>
        <p:spPr>
          <a:xfrm>
            <a:off x="9646920" y="2743200"/>
            <a:ext cx="1782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Temporal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5"/>
          <p:cNvSpPr/>
          <p:nvPr/>
        </p:nvSpPr>
        <p:spPr>
          <a:xfrm>
            <a:off x="9692640" y="3246120"/>
            <a:ext cx="169128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Terminar los modelos antes de que acabe el período académico.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6"/>
          <p:cNvSpPr/>
          <p:nvPr/>
        </p:nvSpPr>
        <p:spPr>
          <a:xfrm>
            <a:off x="548640" y="48920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Objetivo: analizar y diseñar el sistema web de gestión de pedidos de Bocatto Valley, modelando sus 8 requisitos funcionales con diagramas UML en PlantUML a partir de la ERS, antes de que termine el período académico.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5"/>
          </p:nvPr>
        </p:nvSpPr>
        <p:spPr>
          <a:xfrm>
            <a:off x="54864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E5921051-0FAB-4E60-A36B-F664B9463A03}" type="slidenum">
              <a: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0423800" cy="82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Planificación por sprints en Notion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7" name="img_notion_calendario.jpg" descr="/tmp/claude-0/caps/notion_calendario.jpg"/>
          <p:cNvPicPr/>
          <p:nvPr/>
        </p:nvPicPr>
        <p:blipFill>
          <a:blip r:embed="rId1"/>
          <a:stretch/>
        </p:blipFill>
        <p:spPr>
          <a:xfrm>
            <a:off x="548640" y="1679760"/>
            <a:ext cx="3520080" cy="3224160"/>
          </a:xfrm>
          <a:prstGeom prst="rect">
            <a:avLst/>
          </a:prstGeom>
          <a:noFill/>
          <a:ln w="0">
            <a:noFill/>
          </a:ln>
          <a:effectLst>
            <a:outerShdw algn="bl" blurRad="101520" dir="5400000" dist="38160" rotWithShape="0">
              <a:srgbClr val="7A5A45">
                <a:alpha val="25000"/>
              </a:srgbClr>
            </a:outerShdw>
          </a:effectLst>
        </p:spPr>
      </p:pic>
      <p:sp>
        <p:nvSpPr>
          <p:cNvPr id="48" name="Text 1"/>
          <p:cNvSpPr/>
          <p:nvPr/>
        </p:nvSpPr>
        <p:spPr>
          <a:xfrm>
            <a:off x="548640" y="530352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Vista Calendario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" name="img_notion_cronograma.jpg" descr="/tmp/claude-0/caps/notion_cronograma.jpg"/>
          <p:cNvPicPr/>
          <p:nvPr/>
        </p:nvPicPr>
        <p:blipFill>
          <a:blip r:embed="rId2"/>
          <a:stretch/>
        </p:blipFill>
        <p:spPr>
          <a:xfrm>
            <a:off x="4297680" y="2235600"/>
            <a:ext cx="3520080" cy="2111760"/>
          </a:xfrm>
          <a:prstGeom prst="rect">
            <a:avLst/>
          </a:prstGeom>
          <a:noFill/>
          <a:ln w="0">
            <a:noFill/>
          </a:ln>
          <a:effectLst>
            <a:outerShdw algn="bl" blurRad="101520" dir="5400000" dist="38160" rotWithShape="0">
              <a:srgbClr val="7A5A45">
                <a:alpha val="25000"/>
              </a:srgbClr>
            </a:outerShdw>
          </a:effectLst>
        </p:spPr>
      </p:pic>
      <p:sp>
        <p:nvSpPr>
          <p:cNvPr id="50" name="Text 2"/>
          <p:cNvSpPr/>
          <p:nvPr/>
        </p:nvSpPr>
        <p:spPr>
          <a:xfrm>
            <a:off x="4297680" y="530352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Vista Cronograma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img_notion_tablero.jpg" descr="/tmp/claude-0/caps/notion_tablero.jpg"/>
          <p:cNvPicPr/>
          <p:nvPr/>
        </p:nvPicPr>
        <p:blipFill>
          <a:blip r:embed="rId3"/>
          <a:stretch/>
        </p:blipFill>
        <p:spPr>
          <a:xfrm>
            <a:off x="8173440" y="1325880"/>
            <a:ext cx="3266280" cy="3931560"/>
          </a:xfrm>
          <a:prstGeom prst="rect">
            <a:avLst/>
          </a:prstGeom>
          <a:noFill/>
          <a:ln w="0">
            <a:noFill/>
          </a:ln>
          <a:effectLst>
            <a:outerShdw algn="bl" blurRad="101520" dir="5400000" dist="38160" rotWithShape="0">
              <a:srgbClr val="7A5A45">
                <a:alpha val="25000"/>
              </a:srgbClr>
            </a:outerShdw>
          </a:effectLst>
        </p:spPr>
      </p:pic>
      <p:sp>
        <p:nvSpPr>
          <p:cNvPr id="52" name="Text 3"/>
          <p:cNvSpPr/>
          <p:nvPr/>
        </p:nvSpPr>
        <p:spPr>
          <a:xfrm>
            <a:off x="8046720" y="530352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Vista Tablero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4"/>
          <p:cNvSpPr/>
          <p:nvPr/>
        </p:nvSpPr>
        <p:spPr>
          <a:xfrm>
            <a:off x="548640" y="5715000"/>
            <a:ext cx="10515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Notion: </a:t>
            </a:r>
            <a:r>
              <a:rPr lang="en-US" sz="1300" b="0" u="sng" strike="noStrike">
                <a:solidFill>
                  <a:schemeClr val="accent5"/>
                </a:solidFill>
                <a:effectLst/>
                <a:uFillTx/>
                <a:latin typeface="Calibri"/>
                <a:hlinkClick r:id="rId4"/>
              </a:rPr>
              <a:t>app.notion.com/p/P-A-R-A-Sistema-de-pedidos-bocatto-valley-NRC-36838-G-5-3f3cd8194c458048b3adf5c09e2195b6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ldNum" idx="6"/>
          </p:nvPr>
        </p:nvSpPr>
        <p:spPr>
          <a:xfrm>
            <a:off x="54864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F36939A6-8E85-4E2D-95A5-8E05019B8D0E}" type="slidenum">
              <a: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0423800" cy="82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NotebookLM · Cuaderno 1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Text 1"/>
          <p:cNvSpPr/>
          <p:nvPr/>
        </p:nvSpPr>
        <p:spPr>
          <a:xfrm>
            <a:off x="548640" y="118872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Requisitos, ERS e IREB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"/>
          <p:cNvSpPr/>
          <p:nvPr/>
        </p:nvSpPr>
        <p:spPr>
          <a:xfrm>
            <a:off x="548640" y="1645920"/>
            <a:ext cx="1097244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B211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10 fuentes del proyecto: ERS, informe IREB, entrevista, brainstorming, problema, modelo conceptual y matriz de trazabilidad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B211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Mapa mental de la gestión de pedidos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B211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Resumen en audio para repasar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"/>
          <p:cNvSpPr/>
          <p:nvPr/>
        </p:nvSpPr>
        <p:spPr>
          <a:xfrm>
            <a:off x="1182240" y="5532120"/>
            <a:ext cx="3170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Cuaderno con sus fuentes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img_nb1_mapa.jpg" descr="/tmp/claude-0/caps/nb1_mapa.jp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6588360" y="2743200"/>
            <a:ext cx="4613040" cy="2742840"/>
          </a:xfrm>
          <a:prstGeom prst="rect">
            <a:avLst/>
          </a:prstGeom>
          <a:noFill/>
          <a:ln w="0">
            <a:noFill/>
          </a:ln>
          <a:effectLst>
            <a:outerShdw algn="bl" blurRad="101520" dir="5400000" dist="38160" rotWithShape="0">
              <a:srgbClr val="7A5A45">
                <a:alpha val="25000"/>
              </a:srgbClr>
            </a:outerShdw>
          </a:effectLst>
        </p:spPr>
      </p:pic>
      <p:sp>
        <p:nvSpPr>
          <p:cNvPr id="60" name="Text 4"/>
          <p:cNvSpPr/>
          <p:nvPr/>
        </p:nvSpPr>
        <p:spPr>
          <a:xfrm>
            <a:off x="6588360" y="5532120"/>
            <a:ext cx="4613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Mapa mental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5"/>
          <p:cNvSpPr/>
          <p:nvPr/>
        </p:nvSpPr>
        <p:spPr>
          <a:xfrm>
            <a:off x="548640" y="5943600"/>
            <a:ext cx="10515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Enlace: </a:t>
            </a:r>
            <a:r>
              <a:rPr lang="en-US" sz="1300" b="0" u="sng" strike="noStrike">
                <a:solidFill>
                  <a:schemeClr val="accent5"/>
                </a:solidFill>
                <a:effectLst/>
                <a:uFillTx/>
                <a:latin typeface="Calibri"/>
                <a:hlinkClick r:id="rId3"/>
              </a:rPr>
              <a:t>https://notebook.google.com/notebook/db3d5360-1345-489b-bc02-875a57728371?authuser=1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ldNum" idx="7"/>
          </p:nvPr>
        </p:nvSpPr>
        <p:spPr>
          <a:xfrm>
            <a:off x="54864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573F65D0-06BE-4C24-A7AB-C6A279AC3FD7}" type="slidenum">
              <a: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3" name=""/>
          <p:cNvPicPr/>
          <p:nvPr/>
        </p:nvPicPr>
        <p:blipFill>
          <a:blip r:embed="rId4"/>
          <a:srcRect l="0" t="-3053" r="0" b="0"/>
          <a:stretch/>
        </p:blipFill>
        <p:spPr>
          <a:xfrm>
            <a:off x="548640" y="2697120"/>
            <a:ext cx="5581800" cy="276876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0423800" cy="82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NotebookLM · Cuaderno 2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 1"/>
          <p:cNvSpPr/>
          <p:nvPr/>
        </p:nvSpPr>
        <p:spPr>
          <a:xfrm>
            <a:off x="548640" y="118872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Modelado UML con PlantUML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"/>
          <p:cNvSpPr/>
          <p:nvPr/>
        </p:nvSpPr>
        <p:spPr>
          <a:xfrm>
            <a:off x="548640" y="1645920"/>
            <a:ext cx="1097244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B211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 fuentes: guía 1, guía 2, talleres gamificados U1 y U1T2 y la 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B211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Mapa mental del modelado UML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B211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Resumen en audio de casos de uso, clases y secuencias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1172520" y="5532120"/>
            <a:ext cx="3170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Cuaderno con sus fuentes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img_nb2_mapa.jpg" descr="/tmp/claude-0/caps/nb2_mapa.jpg"/>
          <p:cNvPicPr/>
          <p:nvPr/>
        </p:nvPicPr>
        <p:blipFill>
          <a:blip r:embed="rId1"/>
          <a:stretch/>
        </p:blipFill>
        <p:spPr>
          <a:xfrm>
            <a:off x="6462000" y="2743200"/>
            <a:ext cx="4510800" cy="2742840"/>
          </a:xfrm>
          <a:prstGeom prst="rect">
            <a:avLst/>
          </a:prstGeom>
          <a:noFill/>
          <a:ln w="0">
            <a:noFill/>
          </a:ln>
          <a:effectLst>
            <a:outerShdw algn="bl" blurRad="101520" dir="5400000" dist="38160" rotWithShape="0">
              <a:srgbClr val="7A5A45">
                <a:alpha val="25000"/>
              </a:srgbClr>
            </a:outerShdw>
          </a:effectLst>
        </p:spPr>
      </p:pic>
      <p:sp>
        <p:nvSpPr>
          <p:cNvPr id="69" name="Text 4"/>
          <p:cNvSpPr/>
          <p:nvPr/>
        </p:nvSpPr>
        <p:spPr>
          <a:xfrm>
            <a:off x="6462000" y="5532120"/>
            <a:ext cx="4510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Mapa mental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5"/>
          <p:cNvSpPr/>
          <p:nvPr/>
        </p:nvSpPr>
        <p:spPr>
          <a:xfrm>
            <a:off x="548640" y="5943600"/>
            <a:ext cx="10515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Enlace: </a:t>
            </a:r>
            <a:r>
              <a:rPr lang="en-US" sz="1300" b="0" u="sng" strike="noStrike">
                <a:solidFill>
                  <a:schemeClr val="accent5"/>
                </a:solidFill>
                <a:effectLst/>
                <a:uFillTx/>
                <a:latin typeface="Calibri"/>
                <a:hlinkClick r:id="rId2"/>
              </a:rPr>
              <a:t>https://notebook.google.com/notebook/8495017c-a899-47a6-a025-e4d9559aa3e9?authuser=1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ldNum" idx="8"/>
          </p:nvPr>
        </p:nvSpPr>
        <p:spPr>
          <a:xfrm>
            <a:off x="54864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BE21313D-7FE7-4BC6-B574-634E7782F021}" type="slidenum">
              <a: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2" name=""/>
          <p:cNvPicPr/>
          <p:nvPr/>
        </p:nvPicPr>
        <p:blipFill>
          <a:blip r:embed="rId3"/>
          <a:stretch/>
        </p:blipFill>
        <p:spPr>
          <a:xfrm>
            <a:off x="395280" y="2743200"/>
            <a:ext cx="5776920" cy="27432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0423800" cy="82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Asistente GEM · Tutor Bocatto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 1"/>
          <p:cNvSpPr/>
          <p:nvPr/>
        </p:nvSpPr>
        <p:spPr>
          <a:xfrm>
            <a:off x="548640" y="1234440"/>
            <a:ext cx="6583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 Gem de Gemini con la información del proyecto que responde dudas y hace preguntas de repaso.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"/>
          <p:cNvSpPr/>
          <p:nvPr/>
        </p:nvSpPr>
        <p:spPr>
          <a:xfrm>
            <a:off x="548640" y="2148840"/>
            <a:ext cx="776880" cy="7768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E864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3"/>
          <p:cNvSpPr/>
          <p:nvPr/>
        </p:nvSpPr>
        <p:spPr>
          <a:xfrm>
            <a:off x="548640" y="2148840"/>
            <a:ext cx="776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01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4"/>
          <p:cNvSpPr/>
          <p:nvPr/>
        </p:nvSpPr>
        <p:spPr>
          <a:xfrm>
            <a:off x="1554480" y="21488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Acceso directo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5"/>
          <p:cNvSpPr/>
          <p:nvPr/>
        </p:nvSpPr>
        <p:spPr>
          <a:xfrm>
            <a:off x="1554480" y="2532960"/>
            <a:ext cx="5486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 abre con el enlace, sin configurar nada.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6"/>
          <p:cNvSpPr/>
          <p:nvPr/>
        </p:nvSpPr>
        <p:spPr>
          <a:xfrm>
            <a:off x="548640" y="3246120"/>
            <a:ext cx="776880" cy="7768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E864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7"/>
          <p:cNvSpPr/>
          <p:nvPr/>
        </p:nvSpPr>
        <p:spPr>
          <a:xfrm>
            <a:off x="548640" y="3246120"/>
            <a:ext cx="776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8"/>
          <p:cNvSpPr/>
          <p:nvPr/>
        </p:nvSpPr>
        <p:spPr>
          <a:xfrm>
            <a:off x="1554480" y="324612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Respuestas del proyecto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9"/>
          <p:cNvSpPr/>
          <p:nvPr/>
        </p:nvSpPr>
        <p:spPr>
          <a:xfrm>
            <a:off x="1554480" y="3630240"/>
            <a:ext cx="5486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Usa los actores, casos de uso y clases reales de Bocatto.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0"/>
          <p:cNvSpPr/>
          <p:nvPr/>
        </p:nvSpPr>
        <p:spPr>
          <a:xfrm>
            <a:off x="548640" y="4343400"/>
            <a:ext cx="776880" cy="7768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E864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1"/>
          <p:cNvSpPr/>
          <p:nvPr/>
        </p:nvSpPr>
        <p:spPr>
          <a:xfrm>
            <a:off x="548640" y="4343400"/>
            <a:ext cx="776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03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2"/>
          <p:cNvSpPr/>
          <p:nvPr/>
        </p:nvSpPr>
        <p:spPr>
          <a:xfrm>
            <a:off x="1554480" y="43434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Repaso guiado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3"/>
          <p:cNvSpPr/>
          <p:nvPr/>
        </p:nvSpPr>
        <p:spPr>
          <a:xfrm>
            <a:off x="1554480" y="4727520"/>
            <a:ext cx="5486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Pregunta de una en una y corrige con una explicación corta.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4"/>
          <p:cNvSpPr/>
          <p:nvPr/>
        </p:nvSpPr>
        <p:spPr>
          <a:xfrm>
            <a:off x="548640" y="5532120"/>
            <a:ext cx="6583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Gem: </a:t>
            </a:r>
            <a:r>
              <a:rPr lang="en-US" sz="1300" b="0" u="sng" strike="noStrike">
                <a:solidFill>
                  <a:schemeClr val="accent5"/>
                </a:solidFill>
                <a:effectLst/>
                <a:uFillTx/>
                <a:latin typeface="Calibri"/>
                <a:hlinkClick r:id="rId1"/>
              </a:rPr>
              <a:t>gemini.google.com/gem/d9eeb390f7c5?usp=sharing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img_gem_config.jpg" descr="/tmp/claude-0/caps/gem_config.jpg"/>
          <p:cNvPicPr/>
          <p:nvPr/>
        </p:nvPicPr>
        <p:blipFill>
          <a:blip r:embed="rId2"/>
          <a:stretch/>
        </p:blipFill>
        <p:spPr>
          <a:xfrm>
            <a:off x="7223760" y="1523520"/>
            <a:ext cx="4388760" cy="3628080"/>
          </a:xfrm>
          <a:prstGeom prst="rect">
            <a:avLst/>
          </a:prstGeom>
          <a:noFill/>
          <a:ln w="0">
            <a:noFill/>
          </a:ln>
          <a:effectLst>
            <a:outerShdw algn="bl" blurRad="101520" dir="5400000" dist="38160" rotWithShape="0">
              <a:srgbClr val="7A5A45">
                <a:alpha val="25000"/>
              </a:srgbClr>
            </a:outerShdw>
          </a:effectLst>
        </p:spPr>
      </p:pic>
      <p:sp>
        <p:nvSpPr>
          <p:cNvPr id="89" name="Text 15"/>
          <p:cNvSpPr/>
          <p:nvPr/>
        </p:nvSpPr>
        <p:spPr>
          <a:xfrm>
            <a:off x="7223760" y="519732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Configuración del Gem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ldNum" idx="9"/>
          </p:nvPr>
        </p:nvSpPr>
        <p:spPr>
          <a:xfrm>
            <a:off x="54864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E166EB5D-D178-4DF4-BF58-9037CA088099}" type="slidenum">
              <a: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0423800" cy="82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El Gem en uso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g_gem.jpg" descr="/tmp/claude-0/caps/gem.jpg"/>
          <p:cNvPicPr/>
          <p:nvPr/>
        </p:nvPicPr>
        <p:blipFill>
          <a:blip r:embed="rId1"/>
          <a:stretch/>
        </p:blipFill>
        <p:spPr>
          <a:xfrm>
            <a:off x="772200" y="1234440"/>
            <a:ext cx="4855680" cy="4480200"/>
          </a:xfrm>
          <a:prstGeom prst="rect">
            <a:avLst/>
          </a:prstGeom>
          <a:noFill/>
          <a:ln w="0">
            <a:noFill/>
          </a:ln>
          <a:effectLst>
            <a:outerShdw algn="bl" blurRad="101520" dir="5400000" dist="38160" rotWithShape="0">
              <a:srgbClr val="7A5A45">
                <a:alpha val="25000"/>
              </a:srgbClr>
            </a:outerShdw>
          </a:effectLst>
        </p:spPr>
      </p:pic>
      <p:sp>
        <p:nvSpPr>
          <p:cNvPr id="93" name="Text 1"/>
          <p:cNvSpPr/>
          <p:nvPr/>
        </p:nvSpPr>
        <p:spPr>
          <a:xfrm>
            <a:off x="772200" y="5760720"/>
            <a:ext cx="485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Pregunta sobre la clase ControlCobro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img_gem3.jpg" descr="/tmp/claude-0/caps/gem3.jpg"/>
          <p:cNvPicPr/>
          <p:nvPr/>
        </p:nvPicPr>
        <p:blipFill>
          <a:blip r:embed="rId2"/>
          <a:stretch/>
        </p:blipFill>
        <p:spPr>
          <a:xfrm>
            <a:off x="6532920" y="1234440"/>
            <a:ext cx="4855680" cy="4480200"/>
          </a:xfrm>
          <a:prstGeom prst="rect">
            <a:avLst/>
          </a:prstGeom>
          <a:noFill/>
          <a:ln w="0">
            <a:noFill/>
          </a:ln>
          <a:effectLst>
            <a:outerShdw algn="bl" blurRad="101520" dir="5400000" dist="38160" rotWithShape="0">
              <a:srgbClr val="7A5A45">
                <a:alpha val="25000"/>
              </a:srgbClr>
            </a:outerShdw>
          </a:effectLst>
        </p:spPr>
      </p:pic>
      <p:sp>
        <p:nvSpPr>
          <p:cNvPr id="95" name="Text 2"/>
          <p:cNvSpPr/>
          <p:nvPr/>
        </p:nvSpPr>
        <p:spPr>
          <a:xfrm>
            <a:off x="6532920" y="5760720"/>
            <a:ext cx="485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Pregunta de repaso sobre los estados del pedido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sldNum" idx="10"/>
          </p:nvPr>
        </p:nvSpPr>
        <p:spPr>
          <a:xfrm>
            <a:off x="54864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11105D3C-32D0-48C9-86CE-6CD68311071B}" type="slidenum">
              <a: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0423800" cy="82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Prototipo gamificado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 1"/>
          <p:cNvSpPr/>
          <p:nvPr/>
        </p:nvSpPr>
        <p:spPr>
          <a:xfrm>
            <a:off x="548640" y="1234440"/>
            <a:ext cx="4754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Bocatto Valley Challenge: ruleta de preguntas hecha en Gemini Canvas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"/>
          <p:cNvSpPr/>
          <p:nvPr/>
        </p:nvSpPr>
        <p:spPr>
          <a:xfrm>
            <a:off x="548640" y="2194560"/>
            <a:ext cx="475452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B211B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10 preguntas de opción múltiple sobre Bocatto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B211B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Puntos por respuesta correcta y retroalimentación inmediata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B211B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Pantalla final con el resultado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B211B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Preguntas sacadas solo de la información del proyecto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548640" y="530352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Quiz: </a:t>
            </a:r>
            <a:r>
              <a:rPr lang="en-US" sz="1300" b="0" u="sng" strike="noStrike">
                <a:solidFill>
                  <a:schemeClr val="accent5"/>
                </a:solidFill>
                <a:effectLst/>
                <a:uFillTx/>
                <a:latin typeface="Calibri"/>
                <a:hlinkClick r:id="rId1"/>
              </a:rPr>
              <a:t>share.gemini.google/1QgHBaGEupL0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img_quiz_ruleta.jpg" descr="/tmp/claude-0/caps/quiz_ruleta.jpg"/>
          <p:cNvPicPr/>
          <p:nvPr/>
        </p:nvPicPr>
        <p:blipFill>
          <a:blip r:embed="rId2"/>
          <a:stretch/>
        </p:blipFill>
        <p:spPr>
          <a:xfrm>
            <a:off x="5748120" y="1234440"/>
            <a:ext cx="5785920" cy="4480200"/>
          </a:xfrm>
          <a:prstGeom prst="rect">
            <a:avLst/>
          </a:prstGeom>
          <a:noFill/>
          <a:ln w="0">
            <a:noFill/>
          </a:ln>
          <a:effectLst>
            <a:outerShdw algn="bl" blurRad="101520" dir="5400000" dist="38160" rotWithShape="0">
              <a:srgbClr val="7A5A45">
                <a:alpha val="25000"/>
              </a:srgbClr>
            </a:outerShdw>
          </a:effectLst>
        </p:spPr>
      </p:pic>
      <p:sp>
        <p:nvSpPr>
          <p:cNvPr id="102" name="Text 4"/>
          <p:cNvSpPr/>
          <p:nvPr/>
        </p:nvSpPr>
        <p:spPr>
          <a:xfrm>
            <a:off x="5748120" y="5760720"/>
            <a:ext cx="5785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Ruleta del quiz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ldNum" idx="11"/>
          </p:nvPr>
        </p:nvSpPr>
        <p:spPr>
          <a:xfrm>
            <a:off x="54864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FCECBF0D-F4E7-4CEB-AE7A-88FD21290826}" type="slidenum">
              <a: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0423800" cy="82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Piezas visuales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Shape 1"/>
          <p:cNvSpPr/>
          <p:nvPr/>
        </p:nvSpPr>
        <p:spPr>
          <a:xfrm>
            <a:off x="548640" y="1280160"/>
            <a:ext cx="4480200" cy="448020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2700">
            <a:solidFill>
              <a:srgbClr val="FBF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Image 0" descr="/tmp/claude-0/logo/logo_bocatto.png"/>
          <p:cNvPicPr/>
          <p:nvPr/>
        </p:nvPicPr>
        <p:blipFill>
          <a:blip r:embed="rId1"/>
          <a:stretch/>
        </p:blipFill>
        <p:spPr>
          <a:xfrm>
            <a:off x="777240" y="1508760"/>
            <a:ext cx="4023000" cy="402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Text 2"/>
          <p:cNvSpPr/>
          <p:nvPr/>
        </p:nvSpPr>
        <p:spPr>
          <a:xfrm>
            <a:off x="548640" y="5806440"/>
            <a:ext cx="4480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Logotipo de Bocatto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5577840" y="1463040"/>
            <a:ext cx="5943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Logo y animación corta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4"/>
          <p:cNvSpPr/>
          <p:nvPr/>
        </p:nvSpPr>
        <p:spPr>
          <a:xfrm>
            <a:off x="5577840" y="2148840"/>
            <a:ext cx="594324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B211B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Plato con tenedor y cuchillo, vapor encima y el nombre del sistema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B211B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Versión animada de unos 2 segundos en GIF y MP4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B211B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Colores naranja y café que también usamos en Notion, el informe y esta presentación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B211B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 una idea de concepto que podemos ir mejorando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5"/>
          <p:cNvSpPr/>
          <p:nvPr/>
        </p:nvSpPr>
        <p:spPr>
          <a:xfrm>
            <a:off x="5577840" y="5212080"/>
            <a:ext cx="6034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Archivos: </a:t>
            </a:r>
            <a:r>
              <a:rPr lang="en-US" sz="1300" b="0" u="sng" strike="noStrike">
                <a:solidFill>
                  <a:schemeClr val="accent5"/>
                </a:solidFill>
                <a:effectLst/>
                <a:uFillTx/>
                <a:latin typeface="Calibri"/>
                <a:hlinkClick r:id="rId2"/>
              </a:rPr>
              <a:t>carpeta PARA/Piezas_visuales en GitHub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sldNum" idx="12"/>
          </p:nvPr>
        </p:nvSpPr>
        <p:spPr>
          <a:xfrm>
            <a:off x="54864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4D2DDEE6-8E3A-4C80-A31B-60A139B00616}" type="slidenum">
              <a: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0423800" cy="82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Espacio de trabajo en Notion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Shape 1"/>
          <p:cNvSpPr/>
          <p:nvPr/>
        </p:nvSpPr>
        <p:spPr>
          <a:xfrm>
            <a:off x="548640" y="1325880"/>
            <a:ext cx="6034680" cy="114264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rgbClr val="FBF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"/>
          <p:cNvSpPr/>
          <p:nvPr/>
        </p:nvSpPr>
        <p:spPr>
          <a:xfrm>
            <a:off x="777240" y="1463040"/>
            <a:ext cx="5668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Acceso público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3"/>
          <p:cNvSpPr/>
          <p:nvPr/>
        </p:nvSpPr>
        <p:spPr>
          <a:xfrm>
            <a:off x="777240" y="1856160"/>
            <a:ext cx="5668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espacio está publicado en la web y se abre sin iniciar sesión.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4"/>
          <p:cNvSpPr/>
          <p:nvPr/>
        </p:nvSpPr>
        <p:spPr>
          <a:xfrm>
            <a:off x="548640" y="2651760"/>
            <a:ext cx="6034680" cy="114264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rgbClr val="FBF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5"/>
          <p:cNvSpPr/>
          <p:nvPr/>
        </p:nvSpPr>
        <p:spPr>
          <a:xfrm>
            <a:off x="777240" y="2788920"/>
            <a:ext cx="5668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Método P.A.R.A.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6"/>
          <p:cNvSpPr/>
          <p:nvPr/>
        </p:nvSpPr>
        <p:spPr>
          <a:xfrm>
            <a:off x="777240" y="3182040"/>
            <a:ext cx="5668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Pestañas de Proyecto, Áreas, Recursos y Archivos.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7"/>
          <p:cNvSpPr/>
          <p:nvPr/>
        </p:nvSpPr>
        <p:spPr>
          <a:xfrm>
            <a:off x="548640" y="3977640"/>
            <a:ext cx="6034680" cy="114264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rgbClr val="FBF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8"/>
          <p:cNvSpPr/>
          <p:nvPr/>
        </p:nvSpPr>
        <p:spPr>
          <a:xfrm>
            <a:off x="777240" y="4114800"/>
            <a:ext cx="5668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Recursos integrados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9"/>
          <p:cNvSpPr/>
          <p:nvPr/>
        </p:nvSpPr>
        <p:spPr>
          <a:xfrm>
            <a:off x="777240" y="4507920"/>
            <a:ext cx="5668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Enlaces a los cuadernos, el Gem, el quiz, el logo y los dos repositorios de GitHub.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0"/>
          <p:cNvSpPr/>
          <p:nvPr/>
        </p:nvSpPr>
        <p:spPr>
          <a:xfrm>
            <a:off x="548640" y="5440680"/>
            <a:ext cx="6034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sng" strike="noStrike">
                <a:solidFill>
                  <a:schemeClr val="accent5"/>
                </a:solidFill>
                <a:effectLst/>
                <a:uFillTx/>
                <a:latin typeface="Calibri"/>
                <a:hlinkClick r:id="rId1"/>
              </a:rPr>
              <a:t>Abrir el espacio público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img_notion_portada.jpg" descr="/tmp/claude-0/caps/notion_portada.jpg"/>
          <p:cNvPicPr/>
          <p:nvPr/>
        </p:nvPicPr>
        <p:blipFill>
          <a:blip r:embed="rId2"/>
          <a:stretch/>
        </p:blipFill>
        <p:spPr>
          <a:xfrm>
            <a:off x="6949440" y="1634400"/>
            <a:ext cx="4571640" cy="3680280"/>
          </a:xfrm>
          <a:prstGeom prst="rect">
            <a:avLst/>
          </a:prstGeom>
          <a:noFill/>
          <a:ln w="0">
            <a:noFill/>
          </a:ln>
          <a:effectLst>
            <a:outerShdw algn="bl" blurRad="101520" dir="5400000" dist="38160" rotWithShape="0">
              <a:srgbClr val="7A5A45">
                <a:alpha val="25000"/>
              </a:srgbClr>
            </a:outerShdw>
          </a:effectLst>
        </p:spPr>
      </p:pic>
      <p:sp>
        <p:nvSpPr>
          <p:cNvPr id="124" name="Text 11"/>
          <p:cNvSpPr/>
          <p:nvPr/>
        </p:nvSpPr>
        <p:spPr>
          <a:xfrm>
            <a:off x="6949440" y="576072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Página principal del P.A.R.A.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sldNum" idx="13"/>
          </p:nvPr>
        </p:nvSpPr>
        <p:spPr>
          <a:xfrm>
            <a:off x="54864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4C857C6E-E6FE-4CB1-8871-EF1FD1D99353}" type="slidenum">
              <a: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0423800" cy="82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El espacio en números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Shape 1"/>
          <p:cNvSpPr/>
          <p:nvPr/>
        </p:nvSpPr>
        <p:spPr>
          <a:xfrm>
            <a:off x="548640" y="1554480"/>
            <a:ext cx="2605680" cy="310860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rgbClr val="FBF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"/>
          <p:cNvSpPr/>
          <p:nvPr/>
        </p:nvSpPr>
        <p:spPr>
          <a:xfrm>
            <a:off x="548640" y="1828800"/>
            <a:ext cx="26056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6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3"/>
          <p:cNvSpPr/>
          <p:nvPr/>
        </p:nvSpPr>
        <p:spPr>
          <a:xfrm>
            <a:off x="731520" y="3291840"/>
            <a:ext cx="2239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cuadernos de NotebookLM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4"/>
          <p:cNvSpPr/>
          <p:nvPr/>
        </p:nvSpPr>
        <p:spPr>
          <a:xfrm>
            <a:off x="3383280" y="1554480"/>
            <a:ext cx="2605680" cy="310860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rgbClr val="FBF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5"/>
          <p:cNvSpPr/>
          <p:nvPr/>
        </p:nvSpPr>
        <p:spPr>
          <a:xfrm>
            <a:off x="3383280" y="1828800"/>
            <a:ext cx="26056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6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15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6"/>
          <p:cNvSpPr/>
          <p:nvPr/>
        </p:nvSpPr>
        <p:spPr>
          <a:xfrm>
            <a:off x="3566160" y="3291840"/>
            <a:ext cx="2239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fuentes cargadas desde el repositorio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7"/>
          <p:cNvSpPr/>
          <p:nvPr/>
        </p:nvSpPr>
        <p:spPr>
          <a:xfrm>
            <a:off x="6217920" y="1554480"/>
            <a:ext cx="2605680" cy="310860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rgbClr val="FBF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8"/>
          <p:cNvSpPr/>
          <p:nvPr/>
        </p:nvSpPr>
        <p:spPr>
          <a:xfrm>
            <a:off x="6217920" y="1828800"/>
            <a:ext cx="26056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6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10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9"/>
          <p:cNvSpPr/>
          <p:nvPr/>
        </p:nvSpPr>
        <p:spPr>
          <a:xfrm>
            <a:off x="6400800" y="3291840"/>
            <a:ext cx="2239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preguntas en el quiz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0"/>
          <p:cNvSpPr/>
          <p:nvPr/>
        </p:nvSpPr>
        <p:spPr>
          <a:xfrm>
            <a:off x="9052560" y="1554480"/>
            <a:ext cx="2605680" cy="310860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rgbClr val="FBF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1"/>
          <p:cNvSpPr/>
          <p:nvPr/>
        </p:nvSpPr>
        <p:spPr>
          <a:xfrm>
            <a:off x="9052560" y="1828800"/>
            <a:ext cx="26056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6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8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2"/>
          <p:cNvSpPr/>
          <p:nvPr/>
        </p:nvSpPr>
        <p:spPr>
          <a:xfrm>
            <a:off x="9235440" y="3291840"/>
            <a:ext cx="2239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requisitos funcionales en el Gem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3"/>
          <p:cNvSpPr/>
          <p:nvPr/>
        </p:nvSpPr>
        <p:spPr>
          <a:xfrm>
            <a:off x="548640" y="4937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Todo queda enlazado desde Notion y los documentos están en GitHub.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sldNum" idx="14"/>
          </p:nvPr>
        </p:nvSpPr>
        <p:spPr>
          <a:xfrm>
            <a:off x="54864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8D87AEC-E6BC-40ED-A6C3-AD2628663F3E}" type="slidenum">
              <a:rPr lang="en-US" sz="10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Image 0" descr="/tmp/claude-0/logo/logo_bocatto.png"/>
          <p:cNvPicPr/>
          <p:nvPr/>
        </p:nvPicPr>
        <p:blipFill>
          <a:blip r:embed="rId1"/>
          <a:stretch/>
        </p:blipFill>
        <p:spPr>
          <a:xfrm>
            <a:off x="822960" y="1828800"/>
            <a:ext cx="3108600" cy="310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Text 0"/>
          <p:cNvSpPr/>
          <p:nvPr/>
        </p:nvSpPr>
        <p:spPr>
          <a:xfrm>
            <a:off x="4572000" y="1280160"/>
            <a:ext cx="6857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Elaborado por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"/>
          <p:cNvSpPr/>
          <p:nvPr/>
        </p:nvSpPr>
        <p:spPr>
          <a:xfrm>
            <a:off x="4572000" y="2286000"/>
            <a:ext cx="68576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Laínez Suárez Ricardo Andrés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Líder del grupo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Padilla Triviño Marco Adrian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Andino Martínez Nelson David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"/>
          <p:cNvSpPr/>
          <p:nvPr/>
        </p:nvSpPr>
        <p:spPr>
          <a:xfrm>
            <a:off x="4572000" y="493776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Grupo 5  ·  Análisis y Diseño de Software  ·  NRC 36838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Bocatto">
  <a:themeElements>
    <a:clrScheme name="Bocatto">
      <a:dk1>
        <a:srgbClr val="2B211B"/>
      </a:dk1>
      <a:lt1>
        <a:srgbClr val="FFFFFF"/>
      </a:lt1>
      <a:dk2>
        <a:srgbClr val="3B2A20"/>
      </a:dk2>
      <a:lt2>
        <a:srgbClr val="FBF3EC"/>
      </a:lt2>
      <a:accent1>
        <a:srgbClr val="E8642C"/>
      </a:accent1>
      <a:accent2>
        <a:srgbClr val="4A8C5C"/>
      </a:accent2>
      <a:accent3>
        <a:srgbClr val="F2B48F"/>
      </a:accent3>
      <a:accent4>
        <a:srgbClr val="7A5A45"/>
      </a:accent4>
      <a:accent5>
        <a:srgbClr val="C9502A"/>
      </a:accent5>
      <a:accent6>
        <a:srgbClr val="9BC4A6"/>
      </a:accent6>
      <a:hlink>
        <a:srgbClr val="C9502A"/>
      </a:hlink>
      <a:folHlink>
        <a:srgbClr val="7A5A45"/>
      </a:folHlink>
    </a:clrScheme>
    <a:fontScheme name="Bocatto">
      <a:majorFont>
        <a:latin typeface="Cambria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LibreOffice/26.8.1.1$Windows_X86_64 LibreOffice_project/bf6ef2662401c7d6dce671ab4deb26ee0af3a7c1</Application>
  <AppVersion>15.0000</AppVersion>
  <Words>687</Words>
  <Paragraphs>123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2026-10-22T20:17:30Z</dcterms:created>
  <dc:creator>PptxGenJS</dc:creator>
  <dc:description/>
  <dc:language>en-US</dc:language>
  <cp:lastModifiedBy/>
  <dcterms:modified xsi:type="dcterms:W3CDTF">2026-10-25T03:24:52Z</dcterms:modified>
  <cp:revision>3</cp:revision>
  <dc:subject>PptxGenJS Presentation</dc:subject>
  <dc:title>Espacio P.A.R.A. Bocatto G5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Panorámica</vt:lpwstr>
  </property>
  <property fmtid="{D5CDD505-2E9C-101B-9397-08002B2CF9AE}" pid="4" name="Slides">
    <vt:i4>12</vt:i4>
  </property>
</Properties>
</file>