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5B5022E-C13C-DB8F-A37E-E0EC74F76D85}">
          <p14:sldIdLst>
            <p14:sldId id="256"/>
          </p14:sldIdLst>
        </p14:section>
        <p14:section name="Objetivo" id="{8D5F0BE5-B185-97F7-C56A-0A3741716B74}">
          <p14:sldIdLst>
            <p14:sldId id="257"/>
          </p14:sldIdLst>
        </p14:section>
        <p14:section name="Planificación" id="{A2BFBC28-0C44-2ED6-1596-F2D2981FD9A8}">
          <p14:sldIdLst>
            <p14:sldId id="258"/>
          </p14:sldIdLst>
        </p14:section>
        <p14:section name="Investigación" id="{D90A22B6-C093-4B13-F713-32D62AC0B95F}">
          <p14:sldIdLst>
            <p14:sldId id="259"/>
            <p14:sldId id="260"/>
          </p14:sldIdLst>
        </p14:section>
        <p14:section name="Asistente GEM" id="{C93A9784-2DFE-3E7D-E838-CAE4D7026D6A}">
          <p14:sldIdLst>
            <p14:sldId id="261"/>
            <p14:sldId id="262"/>
          </p14:sldIdLst>
        </p14:section>
        <p14:section name="Prototipo" id="{4335B50F-C7ED-D38A-8C11-A59265AB9ADC}">
          <p14:sldIdLst>
            <p14:sldId id="263"/>
          </p14:sldIdLst>
        </p14:section>
        <p14:section name="Piezas visuales" id="{52666F56-C804-3690-695D-9FC9248DF786}">
          <p14:sldIdLst>
            <p14:sldId id="264"/>
          </p14:sldIdLst>
        </p14:section>
        <p14:section name="Notion" id="{7E43FC7E-FA00-F677-E83C-B364685EE0BF}">
          <p14:sldIdLst>
            <p14:sldId id="265"/>
          </p14:sldIdLst>
        </p14:section>
        <p14:section name="Cierre" id="{0B00B082-210B-B71A-9460-64D0FA3503C9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0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45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O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logo/logo_bocat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053328"/>
            <a:ext cx="640080" cy="640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pp.notion.com/p/P-A-R-A-Sistema-de-pedidos-bocatto-valley-NRC-36838-G-5-3f3cd8194c458048b3adf5c09e2195b6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notebooklm.google.com/notebook/eca2758b-8588-4cd0-880c-3fe946384210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notebooklm.google.com/notebook/4b712b5f-10af-4a7b-b4a4-caa0dd275495" TargetMode="Externa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gem/d9eeb390f7c5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emini.google/1QgHBaGEupL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Ricardo-lainez/RicardoLainez36838_G5_ADSW/tree/main/PARA/Piezas_visual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notion.com/p/P-A-R-A-Sistema-de-pedidos-bocatto-valley-NRC-36838-G-5-3f3cd8194c458048b3adf5c09e2195b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logo/logo_bocat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21208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 de trabajo P.A.R.A. con IA generativa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21208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3"/>
                </a:solidFill>
              </a:rPr>
              <a:t>Sistema de Gestión de Pedidos Bocatto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4023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Análisis y Diseño de Software  ·  NRC 36838  ·  Grupo 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Ing. Jenny Ruiz  ·  22 de octubre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SMART</a:t>
            </a:r>
            <a:endParaRPr lang="en-US" sz="3400" dirty="0"/>
          </a:p>
        </p:txBody>
      </p:sp>
      <p:sp>
        <p:nvSpPr>
          <p:cNvPr id="3" name="card_S"/>
          <p:cNvSpPr/>
          <p:nvPr/>
        </p:nvSpPr>
        <p:spPr>
          <a:xfrm>
            <a:off x="548640" y="1463040"/>
            <a:ext cx="2057400" cy="3200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Específico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Analizar y diseñar el sistema web de gestión de pedidos de Bocatto Valley.</a:t>
            </a:r>
            <a:endParaRPr lang="en-US" sz="1400" dirty="0"/>
          </a:p>
        </p:txBody>
      </p:sp>
      <p:sp>
        <p:nvSpPr>
          <p:cNvPr id="8" name="card_M"/>
          <p:cNvSpPr/>
          <p:nvPr/>
        </p:nvSpPr>
        <p:spPr>
          <a:xfrm>
            <a:off x="2788920" y="1463040"/>
            <a:ext cx="2057400" cy="3200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Medible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Documentar y modelar los 8 requisitos funcionales con sus diagramas.</a:t>
            </a:r>
            <a:endParaRPr lang="en-US" sz="1400" dirty="0"/>
          </a:p>
        </p:txBody>
      </p:sp>
      <p:sp>
        <p:nvSpPr>
          <p:cNvPr id="13" name="card_A"/>
          <p:cNvSpPr/>
          <p:nvPr/>
        </p:nvSpPr>
        <p:spPr>
          <a:xfrm>
            <a:off x="5029200" y="1463040"/>
            <a:ext cx="2057400" cy="3200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Alcanzable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Usar la ERS, los casos de uso, PlantUML y lo visto en la materia.</a:t>
            </a:r>
            <a:endParaRPr lang="en-US" sz="1400" dirty="0"/>
          </a:p>
        </p:txBody>
      </p:sp>
      <p:sp>
        <p:nvSpPr>
          <p:cNvPr id="18" name="card_R"/>
          <p:cNvSpPr/>
          <p:nvPr/>
        </p:nvSpPr>
        <p:spPr>
          <a:xfrm>
            <a:off x="7269480" y="1463040"/>
            <a:ext cx="2057400" cy="3200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36408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3640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Relevante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Menos errores al registrar y mejor coordinación entre cocina, caja y atención.</a:t>
            </a:r>
            <a:endParaRPr lang="en-US" sz="1400" dirty="0"/>
          </a:p>
        </p:txBody>
      </p:sp>
      <p:sp>
        <p:nvSpPr>
          <p:cNvPr id="23" name="card_T"/>
          <p:cNvSpPr/>
          <p:nvPr/>
        </p:nvSpPr>
        <p:spPr>
          <a:xfrm>
            <a:off x="9509760" y="1463040"/>
            <a:ext cx="2057400" cy="3200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76688" y="16916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668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Temporal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Terminar los modelos antes de que acabe el período académico.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Objetivo: analizar y diseñar el sistema web de gestión de pedidos de Bocatto Valley, modelando sus 8 requisitos funcionales con diagramas UML en PlantUML a partir de la ERS, antes de que termine el período académico.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por sprints en Notion</a:t>
            </a:r>
            <a:endParaRPr lang="en-US" sz="3400" dirty="0"/>
          </a:p>
        </p:txBody>
      </p:sp>
      <p:pic>
        <p:nvPicPr>
          <p:cNvPr id="3" name="img_notion_calendario.jpg" descr="/tmp/claude-0/caps/notion_calendar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9581"/>
            <a:ext cx="3520440" cy="3224519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5303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Vista Calendario</a:t>
            </a:r>
            <a:endParaRPr lang="en-US" sz="1100" dirty="0"/>
          </a:p>
        </p:txBody>
      </p:sp>
      <p:pic>
        <p:nvPicPr>
          <p:cNvPr id="5" name="img_notion_cronograma.jpg" descr="/tmp/claude-0/caps/notion_cronogra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35708"/>
            <a:ext cx="3520440" cy="2112264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297680" y="5303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Vista Cronograma</a:t>
            </a:r>
            <a:endParaRPr lang="en-US" sz="1100" dirty="0"/>
          </a:p>
        </p:txBody>
      </p:sp>
      <p:pic>
        <p:nvPicPr>
          <p:cNvPr id="7" name="img_notion_tablero.jpg" descr="/tmp/claude-0/caps/notion_tabler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590" y="1325880"/>
            <a:ext cx="3266701" cy="393192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8046720" y="5303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Vista Tablero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Notion: </a:t>
            </a:r>
            <a:r>
              <a:rPr lang="en-US" sz="1300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app.notion.com/p/P-A-R-A-Sistema-de-pedidos-bocatto-valley-NRC-36838-G-5-3f3cd8194c458048b3adf5c09e2195b6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· Cuaderno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Requisitos, ERS e IREB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 fuentes del proyecto: ERS, informe IREB, entrevista, brainstorming, problema, modelo conceptual y matriz de trazabilidad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Mapa mental de la gestión de pedidos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Resumen en audio para repasar</a:t>
            </a:r>
            <a:endParaRPr lang="en-US" sz="1400" dirty="0"/>
          </a:p>
        </p:txBody>
      </p:sp>
      <p:pic>
        <p:nvPicPr>
          <p:cNvPr id="5" name="img_nb1.jpg" descr="/tmp/claude-0/caps/n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95" y="2743200"/>
            <a:ext cx="3171329" cy="274320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37495" y="5532120"/>
            <a:ext cx="3171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Cuaderno con sus fuentes</a:t>
            </a:r>
            <a:endParaRPr lang="en-US" sz="1100" dirty="0"/>
          </a:p>
        </p:txBody>
      </p:sp>
      <p:pic>
        <p:nvPicPr>
          <p:cNvPr id="7" name="img_nb1_mapa.jpg" descr="/tmp/claude-0/caps/nb1_map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658" y="2743200"/>
            <a:ext cx="4613564" cy="274320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785658" y="5532120"/>
            <a:ext cx="461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Mapa mental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Enlace: </a:t>
            </a:r>
            <a:r>
              <a:rPr lang="en-US" sz="13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notebooklm.google.com/notebook/eca2758b-8588-4cd0-880c-3fe946384210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· Cuaderno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Modelado UML con PlantUML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fuentes: guía 1, guía 2, talleres gamificados U1 y U1T2 y la 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Mapa mental del modelado UML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Resumen en audio de casos de uso, clases y secuencias</a:t>
            </a:r>
            <a:endParaRPr lang="en-US" sz="1400" dirty="0"/>
          </a:p>
        </p:txBody>
      </p:sp>
      <p:pic>
        <p:nvPicPr>
          <p:cNvPr id="5" name="img_nb2.jpg" descr="/tmp/claude-0/caps/n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95" y="2743200"/>
            <a:ext cx="3171329" cy="274320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37495" y="5532120"/>
            <a:ext cx="3171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Cuaderno con sus fuentes</a:t>
            </a:r>
            <a:endParaRPr lang="en-US" sz="1100" dirty="0"/>
          </a:p>
        </p:txBody>
      </p:sp>
      <p:pic>
        <p:nvPicPr>
          <p:cNvPr id="7" name="img_nb2_mapa.jpg" descr="/tmp/claude-0/caps/nb2_map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920" y="2743200"/>
            <a:ext cx="4511040" cy="274320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836920" y="5532120"/>
            <a:ext cx="451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Mapa mental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Enlace: </a:t>
            </a:r>
            <a:r>
              <a:rPr lang="en-US" sz="1300" u="sng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notebooklm.google.com/notebook/4b712b5f-10af-4a7b-b4a4-caa0dd275495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GEM · Tutor Bocatto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Un Gem de Gemini con la información del proyecto que responde dudas y hace preguntas de repaso.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Acceso directo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5328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abre con el enlace, sin configurar nada.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Respuestas del proyecto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30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Usa los actores, casos de uso y clases reales de Bocatto.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Repaso guiado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727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Pregunta de una en una y corrige con una explicación corta.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Gem: </a:t>
            </a:r>
            <a:r>
              <a:rPr lang="en-US" sz="13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gemini.google.com/gem/d9eeb390f7c5?usp=sharing</a:t>
            </a:r>
            <a:endParaRPr lang="en-US" sz="1300" dirty="0"/>
          </a:p>
        </p:txBody>
      </p:sp>
      <p:pic>
        <p:nvPicPr>
          <p:cNvPr id="17" name="img_gem_config.jpg" descr="/tmp/claude-0/caps/gem_con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523390"/>
            <a:ext cx="4389120" cy="3628339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18" name="Text 15"/>
          <p:cNvSpPr txBox="1"/>
          <p:nvPr/>
        </p:nvSpPr>
        <p:spPr>
          <a:xfrm>
            <a:off x="7223760" y="519745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Configuración del Gem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Gem en uso</a:t>
            </a:r>
            <a:endParaRPr lang="en-US" sz="3400" dirty="0"/>
          </a:p>
        </p:txBody>
      </p:sp>
      <p:pic>
        <p:nvPicPr>
          <p:cNvPr id="3" name="img_gem.jpg" descr="/tmp/claude-0/caps/g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51" y="1234440"/>
            <a:ext cx="4856098" cy="448056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72351" y="5760720"/>
            <a:ext cx="4856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Pregunta sobre la clase ControlCobro</a:t>
            </a:r>
            <a:endParaRPr lang="en-US" sz="1100" dirty="0"/>
          </a:p>
        </p:txBody>
      </p:sp>
      <p:pic>
        <p:nvPicPr>
          <p:cNvPr id="5" name="img_gem3.jpg" descr="/tmp/claude-0/caps/gem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71" y="1234440"/>
            <a:ext cx="4856098" cy="448056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533071" y="5760720"/>
            <a:ext cx="4856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Pregunta de repaso sobre los estados del pedido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gamificado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Bocatto Valley Challenge: ruleta de preguntas hecha en Gemini Canvas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 preguntas de opción múltiple sobre Bocatto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Puntos por respuesta correcta y retroalimentación inmediata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Pantalla final con el resultado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Preguntas sacadas solo de la información del proyecto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03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Quiz: </a:t>
            </a:r>
            <a:r>
              <a:rPr lang="en-US" sz="13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share.gemini.google/1QgHBaGEupL0</a:t>
            </a:r>
            <a:endParaRPr lang="en-US" sz="1300" dirty="0"/>
          </a:p>
        </p:txBody>
      </p:sp>
      <p:pic>
        <p:nvPicPr>
          <p:cNvPr id="6" name="img_quiz_ruleta.jpg" descr="/tmp/claude-0/caps/quiz_rule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003" y="1234440"/>
            <a:ext cx="5786154" cy="4480560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748003" y="5760720"/>
            <a:ext cx="5786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Ruleta del quiz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visuales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480560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tmp/claude-0/logo/logo_bocat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402336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Logotipo de Bocatto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463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Logo y animación corta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1488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Plato con tenedor y cuchillo, vapor encima y el nombre del sistema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Versión animada de unos 2 segundos en GIF y MP4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Colores naranja y café que también usamos en Notion, el informe y esta presentación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 una idea de concepto que podemos ir mejorando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5212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Archivos: </a:t>
            </a:r>
            <a:r>
              <a:rPr lang="en-US" sz="1300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carpeta PARA/Piezas_visuales en GitHub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 de trabajo en Notion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Acceso público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56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espacio está publicado en la web y se abre sin iniciar sesión.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Método P.A.R.A.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821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Pestañas de Proyecto, Áreas, Recursos y Archivos.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Recursos integrados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079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Enlaces a los cuadernos, el Gem, el quiz, el logo y los dos repositorios de GitHub.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el espacio público</a:t>
            </a:r>
            <a:endParaRPr lang="en-US" sz="1400" dirty="0"/>
          </a:p>
        </p:txBody>
      </p:sp>
      <p:pic>
        <p:nvPicPr>
          <p:cNvPr id="13" name="img_notion_portada.jpg" descr="/tmp/claude-0/caps/notion_portad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34345"/>
            <a:ext cx="4572000" cy="3680749"/>
          </a:xfrm>
          <a:prstGeom prst="rect">
            <a:avLst/>
          </a:prstGeom>
          <a:effectLst>
            <a:outerShdw blurRad="101600" dist="38100" dir="5400000" algn="bl" rotWithShape="0">
              <a:srgbClr val="7A5A45">
                <a:alpha val="25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694944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Página principal del P.A.R.A.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espacio en números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cuadernos de NotebookLM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fuentes cargadas desde el repositorio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preguntas en el quiz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06040" cy="31089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82880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requisitos funcionales en el Gem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Todo queda enlazado desde Notion y los documentos están </a:t>
            </a:r>
            <a:r>
              <a:rPr lang="en-US" sz="1600" dirty="0" err="1">
                <a:solidFill>
                  <a:schemeClr val="tx1"/>
                </a:solidFill>
              </a:rPr>
              <a:t>en</a:t>
            </a:r>
            <a:r>
              <a:rPr lang="en-US" sz="1600" dirty="0">
                <a:solidFill>
                  <a:schemeClr val="tx1"/>
                </a:solidFill>
              </a:rPr>
              <a:t> GitHub</a:t>
            </a:r>
            <a:r>
              <a:rPr lang="en-US" sz="1600" dirty="0"/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logo/logo_bocat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0" y="1280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Elaborado por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22860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Laínez Suárez Ricardo Andrés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Líder del grupo</a:t>
            </a:r>
            <a:endParaRPr lang="en-US" sz="22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Padilla Triviño Marco Adrian</a:t>
            </a:r>
            <a:endParaRPr lang="en-US" sz="22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Andino Martínez Nelson David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Grupo 5  ·  Análisis y Diseño de Software  ·  NRC 36838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catto">
  <a:themeElements>
    <a:clrScheme name="Bocatto">
      <a:dk1>
        <a:srgbClr val="2B211B"/>
      </a:dk1>
      <a:lt1>
        <a:srgbClr val="FFFFFF"/>
      </a:lt1>
      <a:dk2>
        <a:srgbClr val="3B2A20"/>
      </a:dk2>
      <a:lt2>
        <a:srgbClr val="FBF3EC"/>
      </a:lt2>
      <a:accent1>
        <a:srgbClr val="E8642C"/>
      </a:accent1>
      <a:accent2>
        <a:srgbClr val="4A8C5C"/>
      </a:accent2>
      <a:accent3>
        <a:srgbClr val="F2B48F"/>
      </a:accent3>
      <a:accent4>
        <a:srgbClr val="7A5A45"/>
      </a:accent4>
      <a:accent5>
        <a:srgbClr val="C9502A"/>
      </a:accent5>
      <a:accent6>
        <a:srgbClr val="9BC4A6"/>
      </a:accent6>
      <a:hlink>
        <a:srgbClr val="C9502A"/>
      </a:hlink>
      <a:folHlink>
        <a:srgbClr val="7A5A45"/>
      </a:folHlink>
    </a:clrScheme>
    <a:fontScheme name="Bocatt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Panorámica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Bocatto</vt:lpstr>
      <vt:lpstr>Presentación de PowerPoint</vt:lpstr>
      <vt:lpstr>Objetivo SMART</vt:lpstr>
      <vt:lpstr>Planificación por sprints en Notion</vt:lpstr>
      <vt:lpstr>NotebookLM · Cuaderno 1</vt:lpstr>
      <vt:lpstr>NotebookLM · Cuaderno 2</vt:lpstr>
      <vt:lpstr>Asistente GEM · Tutor Bocatto</vt:lpstr>
      <vt:lpstr>El Gem en uso</vt:lpstr>
      <vt:lpstr>Prototipo gamificado</vt:lpstr>
      <vt:lpstr>Piezas visuales</vt:lpstr>
      <vt:lpstr>Espacio de trabajo en Notion</vt:lpstr>
      <vt:lpstr>El espacio en números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Espacio P.A.R.A. Bocatto G5</dc:title>
  <dc:subject>PptxGenJS Presentation</dc:subject>
  <dc:creator>PptxGenJS</dc:creator>
  <cp:lastModifiedBy>Adrian Padilla</cp:lastModifiedBy>
  <cp:revision>2</cp:revision>
  <dcterms:created xsi:type="dcterms:W3CDTF">2026-10-22T20:17:30Z</dcterms:created>
  <dcterms:modified xsi:type="dcterms:W3CDTF">2026-10-22T20:22:45Z</dcterms:modified>
</cp:coreProperties>
</file>